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Average Price by Brand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(₹)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3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7474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E342E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IFB</c:v>
                  </c:pt>
                  <c:pt idx="1">
                    <c:v>LG</c:v>
                  </c:pt>
                  <c:pt idx="2">
                    <c:v>SAMSUNG</c:v>
                  </c:pt>
                  <c:pt idx="3">
                    <c:v>Whirlpool</c:v>
                  </c:pt>
                  <c:pt idx="4">
                    <c:v>HAIER</c:v>
                  </c:pt>
                  <c:pt idx="5">
                    <c:v>Midea</c:v>
                  </c:pt>
                  <c:pt idx="6">
                    <c:v>ONIDA</c:v>
                  </c:pt>
                  <c:pt idx="7">
                    <c:v>REALME</c:v>
                  </c:pt>
                  <c:pt idx="8">
                    <c:v>MarQ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28500</c:v>
                </c:pt>
                <c:pt idx="1">
                  <c:v>24200</c:v>
                </c:pt>
                <c:pt idx="2">
                  <c:v>22800</c:v>
                </c:pt>
                <c:pt idx="3">
                  <c:v>18900</c:v>
                </c:pt>
                <c:pt idx="4">
                  <c:v>16400</c:v>
                </c:pt>
                <c:pt idx="5">
                  <c:v>14200</c:v>
                </c:pt>
                <c:pt idx="6">
                  <c:v>13800</c:v>
                </c:pt>
                <c:pt idx="7">
                  <c:v>11500</c:v>
                </c:pt>
                <c:pt idx="8">
                  <c:v>10200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E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Price vs Capacity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by Capacity (₹)</c:v>
                </c:pt>
              </c:strCache>
            </c:strRef>
          </c:tx>
          <c:spPr>
            <a:solidFill>
              <a:srgbClr val="027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77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8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39B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9B6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1D4F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6 kg</c:v>
                  </c:pt>
                  <c:pt idx="1">
                    <c:v>6.5 kg</c:v>
                  </c:pt>
                  <c:pt idx="2">
                    <c:v>7 kg</c:v>
                  </c:pt>
                  <c:pt idx="3">
                    <c:v>7.5 kg</c:v>
                  </c:pt>
                  <c:pt idx="4">
                    <c:v>8 kg</c:v>
                  </c:pt>
                  <c:pt idx="5">
                    <c:v>9 kg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12400</c:v>
                </c:pt>
                <c:pt idx="1">
                  <c:v>14200</c:v>
                </c:pt>
                <c:pt idx="2">
                  <c:v>16800</c:v>
                </c:pt>
                <c:pt idx="3">
                  <c:v>18500</c:v>
                </c:pt>
                <c:pt idx="4">
                  <c:v>21300</c:v>
                </c:pt>
                <c:pt idx="5">
                  <c:v>26700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E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Average Rating by Brand (out of 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E34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7474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83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IFB</c:v>
                  </c:pt>
                  <c:pt idx="1">
                    <c:v>LG</c:v>
                  </c:pt>
                  <c:pt idx="2">
                    <c:v>SAMSUNG</c:v>
                  </c:pt>
                  <c:pt idx="3">
                    <c:v>Whirlpool</c:v>
                  </c:pt>
                  <c:pt idx="4">
                    <c:v>HAIER</c:v>
                  </c:pt>
                  <c:pt idx="5">
                    <c:v>MarQ</c:v>
                  </c:pt>
                  <c:pt idx="6">
                    <c:v>REALME</c:v>
                  </c:pt>
                  <c:pt idx="7">
                    <c:v>Midea</c:v>
                  </c:pt>
                  <c:pt idx="8">
                    <c:v>ONIDA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4.3</c:v>
                </c:pt>
                <c:pt idx="2">
                  <c:v>4.3</c:v>
                </c:pt>
                <c:pt idx="3">
                  <c:v>4.2</c:v>
                </c:pt>
                <c:pt idx="4">
                  <c:v>4.1</c:v>
                </c:pt>
                <c:pt idx="5">
                  <c:v>4.1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.8"/>
        </c:scaling>
        <c:delete val="0"/>
        <c:axPos val="b"/>
        <c:majorGridlines>
          <c:spPr>
            <a:ln w="6350" cap="flat">
              <a:solidFill>
                <a:srgbClr val="E0EE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B50"/>
          </a:solidFill>
          <a:ln w="12700">
            <a:solidFill>
              <a:srgbClr val="0D2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274320"/>
            <a:ext cx="822960" cy="822960"/>
          </a:xfrm>
          <a:prstGeom prst="ellipse">
            <a:avLst/>
          </a:prstGeom>
          <a:solidFill>
            <a:srgbClr val="26C6DA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1440"/>
            <a:ext cx="502920" cy="502920"/>
          </a:xfrm>
          <a:prstGeom prst="ellipse">
            <a:avLst/>
          </a:prstGeom>
          <a:solidFill>
            <a:srgbClr val="26C6DA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005840"/>
            <a:ext cx="640080" cy="640080"/>
          </a:xfrm>
          <a:prstGeom prst="ellipse">
            <a:avLst/>
          </a:prstGeom>
          <a:solidFill>
            <a:srgbClr val="26C6DA">
              <a:alpha val="8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822960"/>
            <a:ext cx="365760" cy="365760"/>
          </a:xfrm>
          <a:prstGeom prst="ellipse">
            <a:avLst/>
          </a:prstGeom>
          <a:solidFill>
            <a:srgbClr val="26C6DA">
              <a:alpha val="82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26C6DA">
              <a:alpha val="9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1645920"/>
            <a:ext cx="594360" cy="594360"/>
          </a:xfrm>
          <a:prstGeom prst="ellipse">
            <a:avLst/>
          </a:prstGeom>
          <a:solidFill>
            <a:srgbClr val="26C6DA">
              <a:alpha val="86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286000"/>
            <a:ext cx="320040" cy="320040"/>
          </a:xfrm>
          <a:prstGeom prst="ellipse">
            <a:avLst/>
          </a:prstGeom>
          <a:solidFill>
            <a:srgbClr val="26C6DA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2834640"/>
            <a:ext cx="502920" cy="502920"/>
          </a:xfrm>
          <a:prstGeom prst="ellipse">
            <a:avLst/>
          </a:prstGeom>
          <a:solidFill>
            <a:srgbClr val="26C6DA">
              <a:alpha val="84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3017520"/>
            <a:ext cx="411480" cy="411480"/>
          </a:xfrm>
          <a:prstGeom prst="ellipse">
            <a:avLst/>
          </a:prstGeom>
          <a:solidFill>
            <a:srgbClr val="26C6DA">
              <a:alpha val="82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3657600"/>
            <a:ext cx="685800" cy="685800"/>
          </a:xfrm>
          <a:prstGeom prst="ellipse">
            <a:avLst/>
          </a:prstGeom>
          <a:solidFill>
            <a:srgbClr val="26C6DA">
              <a:alpha val="8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931920"/>
            <a:ext cx="457200" cy="457200"/>
          </a:xfrm>
          <a:prstGeom prst="ellipse">
            <a:avLst/>
          </a:prstGeom>
          <a:solidFill>
            <a:srgbClr val="26C6DA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3657600"/>
            <a:ext cx="274320" cy="274320"/>
          </a:xfrm>
          <a:prstGeom prst="ellipse">
            <a:avLst/>
          </a:prstGeom>
          <a:solidFill>
            <a:srgbClr val="26C6DA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572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🫧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411480" y="1234440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Machine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11480" y="1901952"/>
            <a:ext cx="5760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411480" y="2651760"/>
            <a:ext cx="292608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 ·  MySQL 8.0  ·  Indian Market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246120"/>
            <a:ext cx="1261872" cy="777240"/>
          </a:xfrm>
          <a:prstGeom prst="rect">
            <a:avLst/>
          </a:prstGeom>
          <a:solidFill>
            <a:srgbClr val="102B4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7355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6393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01368" y="3246120"/>
            <a:ext cx="1261872" cy="777240"/>
          </a:xfrm>
          <a:prstGeom prst="rect">
            <a:avLst/>
          </a:prstGeom>
          <a:solidFill>
            <a:srgbClr val="102B4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01368" y="327355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01368" y="36393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91256" y="3246120"/>
            <a:ext cx="1261872" cy="777240"/>
          </a:xfrm>
          <a:prstGeom prst="rect">
            <a:avLst/>
          </a:prstGeom>
          <a:solidFill>
            <a:srgbClr val="102B4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91256" y="327355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191256" y="36393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81144" y="3246120"/>
            <a:ext cx="1261872" cy="777240"/>
          </a:xfrm>
          <a:prstGeom prst="rect">
            <a:avLst/>
          </a:prstGeom>
          <a:solidFill>
            <a:srgbClr val="102B4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1144" y="327355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₹6.7K–32K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81144" y="363931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78324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 ·  MySQL 8.0  ·  MIT License  ·  Dataset: Indian e-commerce listings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43000"/>
            <a:ext cx="8375904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70432"/>
            <a:ext cx="8229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Perform structured SQL analysis on the Indian washing machine market — exploring pricing, brand performance, product features, and value-for-money across 1,056 models and 9 major brands.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9202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920240"/>
            <a:ext cx="196596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29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" y="2560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min/max &amp; price-per-kg across brands and capacities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05456" y="19202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05456" y="1920240"/>
            <a:ext cx="1965960" cy="91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2029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96896" y="2560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Ratings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78608" y="2926080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ratings per brand and washing function type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920240"/>
            <a:ext cx="196596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029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18304" y="2560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Study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0016" y="2926080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Inbuilt heater impact, spin speed thresholds, wash methods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48272" y="19202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48272" y="1920240"/>
            <a:ext cx="1965960" cy="91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029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39712" y="2560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Ranking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21424" y="2926080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RANK() for premium vs. budget brand positioning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4160520"/>
            <a:ext cx="8375904" cy="658368"/>
          </a:xfrm>
          <a:prstGeom prst="rect">
            <a:avLst/>
          </a:prstGeom>
          <a:solidFill>
            <a:srgbClr val="E3F2FD"/>
          </a:solidFill>
          <a:ln w="6350">
            <a:solidFill>
              <a:srgbClr val="E3F2F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4315968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3159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🗄️ MySQL 8.0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03704" y="4315968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03704" y="43159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🪟 Window Functions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0" y="4315968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3159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📊 GROUP BY + RANK()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77256" y="4315968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77256" y="43159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🔄 CAST + REPLACE()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14032" y="4315968"/>
            <a:ext cx="1481328" cy="329184"/>
          </a:xfrm>
          <a:prstGeom prst="roundRect">
            <a:avLst>
              <a:gd name="adj" fmla="val 16667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43159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📁 1,056 Records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DATABASE SCHEMA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43000"/>
            <a:ext cx="2286000" cy="352044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070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 Info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6276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washing_machine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Table: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72768" y="200253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237744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ws0 → ws1 → washing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75234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75234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(MySQL 8.0)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72768" y="31272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1,056 rows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5021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72768" y="35021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fields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387705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₹6,790 – ₹31,990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42519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manufacturers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143000"/>
          <a:ext cx="5925312" cy="352044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25420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Price_Indian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Retail price in ₹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rating (out of 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Brand_Name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VARCHAR(15)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Manufacturer brand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Model_Name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 model 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Washing_Capacity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 capacity (e.g., 7 kg)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colour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Maximum_Spin_Speed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VARCHAR(30)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 RPM as string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Function_Type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VARCHAR(30)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Fully / Semi Automatic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Inbuilt_Heater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 / No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Washing_Method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VARCHAR(15)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Pulsator / Tumble / Agitator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BRANDS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Landscape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1261872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2618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Premium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3776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1280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24128" y="1664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12.4%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24128" y="1938528"/>
            <a:ext cx="1098423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38528"/>
            <a:ext cx="1417320" cy="109728"/>
          </a:xfrm>
          <a:prstGeom prst="rect">
            <a:avLst/>
          </a:prstGeom>
          <a:solidFill>
            <a:srgbClr val="1565C0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188720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188720"/>
            <a:ext cx="73152" cy="10972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261872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2618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Premium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28416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58768" y="1280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58768" y="1664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13.1%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58768" y="1938528"/>
            <a:ext cx="1160431" cy="1097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58768" y="1938528"/>
            <a:ext cx="1417320" cy="109728"/>
          </a:xfrm>
          <a:prstGeom prst="rect">
            <a:avLst/>
          </a:prstGeom>
          <a:solidFill>
            <a:srgbClr val="7B1FA2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53328" y="1188720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3328" y="1188720"/>
            <a:ext cx="73152" cy="10972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261872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26187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Premium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163056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93408" y="1280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93408" y="1664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10.8%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93408" y="1938528"/>
            <a:ext cx="956691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3408" y="1938528"/>
            <a:ext cx="1417320" cy="109728"/>
          </a:xfrm>
          <a:prstGeom prst="rect">
            <a:avLst/>
          </a:prstGeom>
          <a:solidFill>
            <a:srgbClr val="C62828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2450592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048" y="2450592"/>
            <a:ext cx="73152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2523744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25237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3776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24128" y="2542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Whirlpool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24128" y="29260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14.2%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24128" y="3200400"/>
            <a:ext cx="1257872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" y="3200400"/>
            <a:ext cx="1417320" cy="109728"/>
          </a:xfrm>
          <a:prstGeom prst="rect">
            <a:avLst/>
          </a:prstGeom>
          <a:solidFill>
            <a:srgbClr val="E65100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18688" y="2450592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18688" y="2450592"/>
            <a:ext cx="73152" cy="10972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2523744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25237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328416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858768" y="2542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58768" y="29260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11.5%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58768" y="3200400"/>
            <a:ext cx="1018699" cy="10972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58768" y="3200400"/>
            <a:ext cx="1417320" cy="109728"/>
          </a:xfrm>
          <a:prstGeom prst="rect">
            <a:avLst/>
          </a:prstGeom>
          <a:solidFill>
            <a:srgbClr val="F57F17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53328" y="2450592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53328" y="2450592"/>
            <a:ext cx="73152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38160" y="2523744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25237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163056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693408" y="25420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ONIDA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693408" y="29260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9.7%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93408" y="3200400"/>
            <a:ext cx="85925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93408" y="3200400"/>
            <a:ext cx="1417320" cy="109728"/>
          </a:xfrm>
          <a:prstGeom prst="rect">
            <a:avLst/>
          </a:prstGeom>
          <a:solidFill>
            <a:srgbClr val="2E7D32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" y="3712464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84048" y="3712464"/>
            <a:ext cx="73152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68880" y="3785616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0" y="37856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Budget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93776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🔷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1024128" y="38039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Midea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024128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9.2%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24128" y="4462272"/>
            <a:ext cx="814959" cy="1097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4128" y="4462272"/>
            <a:ext cx="1417320" cy="109728"/>
          </a:xfrm>
          <a:prstGeom prst="rect">
            <a:avLst/>
          </a:prstGeom>
          <a:solidFill>
            <a:srgbClr val="00838F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8688" y="3712464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218688" y="3712464"/>
            <a:ext cx="73152" cy="10972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03520" y="3785616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0" y="37856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Budget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328416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⬛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3858768" y="38039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 TechLife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858768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10.6%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858768" y="4462272"/>
            <a:ext cx="938975" cy="1097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58768" y="4462272"/>
            <a:ext cx="1417320" cy="109728"/>
          </a:xfrm>
          <a:prstGeom prst="rect">
            <a:avLst/>
          </a:prstGeom>
          <a:solidFill>
            <a:srgbClr val="37474F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53328" y="3712464"/>
            <a:ext cx="267004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053328" y="3712464"/>
            <a:ext cx="73152" cy="109728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38160" y="3785616"/>
            <a:ext cx="530352" cy="201168"/>
          </a:xfrm>
          <a:prstGeom prst="roundRect">
            <a:avLst>
              <a:gd name="adj" fmla="val 18182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38160" y="37856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Budget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163056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🟤</a:t>
            </a:r>
            <a:endParaRPr lang="en-US" sz="2200" dirty="0"/>
          </a:p>
        </p:txBody>
      </p:sp>
      <p:sp>
        <p:nvSpPr>
          <p:cNvPr id="82" name="Text 80"/>
          <p:cNvSpPr/>
          <p:nvPr/>
        </p:nvSpPr>
        <p:spPr>
          <a:xfrm>
            <a:off x="6693408" y="38039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 by Flipkart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6693408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8.5%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693408" y="4462272"/>
            <a:ext cx="752951" cy="109728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93408" y="4462272"/>
            <a:ext cx="1417320" cy="109728"/>
          </a:xfrm>
          <a:prstGeom prst="rect">
            <a:avLst/>
          </a:prstGeom>
          <a:solidFill>
            <a:srgbClr val="4E342E">
              <a:alpha val="20000"/>
            </a:srgbClr>
          </a:solidFill>
          <a:ln w="381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PRICE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Analysis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1170432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577840" y="1170432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84048" y="4206240"/>
            <a:ext cx="8375904" cy="667512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02920" y="429768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C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78992" y="42976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 ROUND(AVG(Price_Indian), 2) AS brands_avg_price  FROM washing  GROUP BY Brand_Name;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RATINGS &amp; 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Feature Insights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1170432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138928" y="1170432"/>
            <a:ext cx="365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38928" y="1170432"/>
            <a:ext cx="73152" cy="8229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78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06440" y="12435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Inbuilt Heater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06440" y="153619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₹21,800  (Avg Price (With))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06440" y="174650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₹14,200  (Avg Price (Without))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38928" y="2130552"/>
            <a:ext cx="365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38928" y="2130552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🌀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806440" y="220370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Spin Speed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249631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 RPM  (Maximum in dataset)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06440" y="270662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RPM  (Minimum recorded)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138928" y="3090672"/>
            <a:ext cx="3657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38928" y="3090672"/>
            <a:ext cx="73152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806440" y="31638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Function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06440" y="345643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Load  (Highest avg price)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06440" y="3666744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  (Most budget-friendly)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38928" y="4050792"/>
            <a:ext cx="365760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E8F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257800" y="4160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Most common color: 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52360" y="41605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84048" y="3913632"/>
            <a:ext cx="4572000" cy="82296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640" y="397764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ROUND(AVG(Ratings), 2) AS avg_rating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washing GROUP BY Brand_Name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avg_rating DESC;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SQL QUERIES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4187952" cy="1783080"/>
          </a:xfrm>
          <a:prstGeom prst="rect">
            <a:avLst/>
          </a:prstGeom>
          <a:solidFill>
            <a:srgbClr val="0D2B5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88720"/>
            <a:ext cx="475488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2688" y="12344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Spin Speed (String → Numeric Cast)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3968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MAX(CAST(REPLACE(Maximum_Spin_Speed,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RPM', '') AS UNSIGNED)) AS Max_Spin_Speed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washing;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" y="2578608"/>
            <a:ext cx="3968496" cy="256032"/>
          </a:xfrm>
          <a:prstGeom prst="rect">
            <a:avLst/>
          </a:prstGeom>
          <a:solidFill>
            <a:srgbClr val="071830"/>
          </a:solidFill>
          <a:ln w="12700">
            <a:solidFill>
              <a:srgbClr val="071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968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Strips ' RPM' suffix before numeric MAX()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87952" cy="1783080"/>
          </a:xfrm>
          <a:prstGeom prst="rect">
            <a:avLst/>
          </a:prstGeom>
          <a:solidFill>
            <a:srgbClr val="0D2B5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475488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Q10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12344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for Money (Price per kg)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4608" y="1572768"/>
            <a:ext cx="3968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 Model_Name,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ROUND(Price_Indian / Washing_Capacity, 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price_per_kg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washing ORDER BY price_per_kg ASC LIMIT 1;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64608" y="2578608"/>
            <a:ext cx="3968496" cy="256032"/>
          </a:xfrm>
          <a:prstGeom prst="rect">
            <a:avLst/>
          </a:prstGeom>
          <a:solidFill>
            <a:srgbClr val="071830"/>
          </a:solidFill>
          <a:ln w="12700">
            <a:solidFill>
              <a:srgbClr val="071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59689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Implicit cast of VARCHAR capacity — explicit CAST recommended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3127248"/>
            <a:ext cx="4187952" cy="1783080"/>
          </a:xfrm>
          <a:prstGeom prst="rect">
            <a:avLst/>
          </a:prstGeom>
          <a:solidFill>
            <a:srgbClr val="0D2B50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127248"/>
            <a:ext cx="475488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27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Q11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" y="317296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Inbuilt Heater Impact (Correlated Subqueries)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" y="3511296"/>
            <a:ext cx="3968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AVG(Price_Indian) FROM washing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Inbuilt_Heater='Yes') AS with_heater,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AVG(Price_Indian) FROM washing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Inbuilt_Heater='No') AS without_heater;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" y="4517136"/>
            <a:ext cx="3968496" cy="256032"/>
          </a:xfrm>
          <a:prstGeom prst="rect">
            <a:avLst/>
          </a:prstGeom>
          <a:solidFill>
            <a:srgbClr val="071830"/>
          </a:solidFill>
          <a:ln w="12700">
            <a:solidFill>
              <a:srgbClr val="071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354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Side-by-side comparison using correlated subqueries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127248"/>
            <a:ext cx="4187952" cy="1783080"/>
          </a:xfrm>
          <a:prstGeom prst="rect">
            <a:avLst/>
          </a:prstGeom>
          <a:solidFill>
            <a:srgbClr val="0D2B5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27248"/>
            <a:ext cx="475488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127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Q14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317296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vs Budget Ranking (Window Functions)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4608" y="3511296"/>
            <a:ext cx="3968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Brand_Name,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(ORDER BY AVG(Ratings) DESC)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rating_rank,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(ORDER BY AVG(Price_Indian) DESC)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price_rank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washing GROUP BY Brand_Name;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64608" y="4517136"/>
            <a:ext cx="3968496" cy="256032"/>
          </a:xfrm>
          <a:prstGeom prst="rect">
            <a:avLst/>
          </a:prstGeom>
          <a:solidFill>
            <a:srgbClr val="071830"/>
          </a:solidFill>
          <a:ln w="12700">
            <a:solidFill>
              <a:srgbClr val="071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45354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RANK() over aggregate — no subqueries needed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KEY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4187952" cy="1097280"/>
          </a:xfrm>
          <a:prstGeom prst="rect">
            <a:avLst/>
          </a:prstGeom>
          <a:solidFill>
            <a:srgbClr val="FFF5F5"/>
          </a:solidFill>
          <a:ln w="6350">
            <a:solidFill>
              <a:srgbClr val="FF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70432"/>
            <a:ext cx="73152" cy="10972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61872"/>
            <a:ext cx="402336" cy="347472"/>
          </a:xfrm>
          <a:prstGeom prst="roundRect">
            <a:avLst>
              <a:gd name="adj" fmla="val 15789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" y="126187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Leads Premium Segment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commands the highest average price in the dataset, driven entirely by its Front Load machine lineup. It also holds the top rating rank.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4187952" cy="1097280"/>
          </a:xfrm>
          <a:prstGeom prst="rect">
            <a:avLst/>
          </a:prstGeom>
          <a:solidFill>
            <a:srgbClr val="F0F5FF"/>
          </a:solidFill>
          <a:ln w="6350">
            <a:solidFill>
              <a:srgbClr val="F0F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70432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261872"/>
            <a:ext cx="402336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26187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13248" y="126187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Load = Highest Price Point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664208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Automatic Front Load machines have the highest average price across all function types — typically 35-40% more than Top Load equivalents.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432304"/>
            <a:ext cx="4187952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F5F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432304"/>
            <a:ext cx="73152" cy="10972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23744"/>
            <a:ext cx="402336" cy="347472"/>
          </a:xfrm>
          <a:prstGeom prst="roundRect">
            <a:avLst>
              <a:gd name="adj" fmla="val 15789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2374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2416" y="252374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Dominates the Color Market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is the most common appliance color across all 9 brands and all price segments — a consistent preference in the Indian home appliance market.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432304"/>
            <a:ext cx="4187952" cy="1097280"/>
          </a:xfrm>
          <a:prstGeom prst="rect">
            <a:avLst/>
          </a:prstGeom>
          <a:solidFill>
            <a:srgbClr val="FFFBF0"/>
          </a:solidFill>
          <a:ln w="6350">
            <a:solidFill>
              <a:srgbClr val="FFFB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32304"/>
            <a:ext cx="73152" cy="10972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2523744"/>
            <a:ext cx="402336" cy="347472"/>
          </a:xfrm>
          <a:prstGeom prst="roundRect">
            <a:avLst>
              <a:gd name="adj" fmla="val 15789"/>
            </a:avLst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52374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252374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 ≠ Better Ratings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2926080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an inbuilt heater are significantly more expensive, but the average customer ratings for heater and non-heater models are nearly identical.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694176"/>
            <a:ext cx="4187952" cy="1097280"/>
          </a:xfrm>
          <a:prstGeom prst="rect">
            <a:avLst/>
          </a:prstGeom>
          <a:solidFill>
            <a:srgbClr val="F0FFF4"/>
          </a:solidFill>
          <a:ln w="6350">
            <a:solidFill>
              <a:srgbClr val="F0FFF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694176"/>
            <a:ext cx="73152" cy="10972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785616"/>
            <a:ext cx="402336" cy="347472"/>
          </a:xfrm>
          <a:prstGeom prst="roundRect">
            <a:avLst>
              <a:gd name="adj" fmla="val 15789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8561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" y="378561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Brands Punch Above Weight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18795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 by Flipkart and REALME TechLife position themselves with competitive ratings close to premium brands, at 30–50% lower average price points.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94176"/>
            <a:ext cx="4187952" cy="1097280"/>
          </a:xfrm>
          <a:prstGeom prst="rect">
            <a:avLst/>
          </a:prstGeom>
          <a:solidFill>
            <a:srgbClr val="FBF0FF"/>
          </a:solidFill>
          <a:ln w="6350">
            <a:solidFill>
              <a:srgbClr val="FBF0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694176"/>
            <a:ext cx="73152" cy="10972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785616"/>
            <a:ext cx="402336" cy="347472"/>
          </a:xfrm>
          <a:prstGeom prst="roundRect">
            <a:avLst>
              <a:gd name="adj" fmla="val 15789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78561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13248" y="3785616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Drives Price Linearly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9472" y="4187952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scales almost linearly with washing capacity from 6 kg to 9 kg. Each additional kg adds approximately ₹2,860 on average to the retail price.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554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50292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70432"/>
            <a:ext cx="548640" cy="7955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548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Numeric Columns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15727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Washing_Capacity &amp; Maximum_Spin_Speed to proper INT/FLOAT types at schema creation — removes need for CAST + REPLACE in every query.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103120"/>
            <a:ext cx="50292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103120"/>
            <a:ext cx="548640" cy="7955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03120"/>
            <a:ext cx="548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21945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Reviews Count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250545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reviews_count column to weight ratings more accurately. Currently all ratings are treated equally regardless of sample size.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035808"/>
            <a:ext cx="50292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035808"/>
            <a:ext cx="548640" cy="79552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35808"/>
            <a:ext cx="548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31272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24128" y="34381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Tableau or Power BI dashboard on top of this dataset for interactive visual exploration by brand, price range, and features.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968496"/>
            <a:ext cx="502920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968496"/>
            <a:ext cx="548640" cy="7955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968496"/>
            <a:ext cx="5486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" y="405993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Trends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24128" y="4370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with pricing trend data over time — useful for studying inflation impact and new model launches across segments.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170432"/>
            <a:ext cx="3200400" cy="3703320"/>
          </a:xfrm>
          <a:prstGeom prst="rect">
            <a:avLst/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87568" y="1234440"/>
            <a:ext cx="2980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568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17190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88352" y="17190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engine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87568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🪟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80760" y="21579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88352" y="21579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RANK(), PARTITION BY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87568" y="2569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0760" y="25968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AGG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88352" y="25968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87568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80760" y="30358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+ REPLACE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88352" y="30358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handling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87568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80760" y="3474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88352" y="3474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pipeline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87568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080760" y="39136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88352" y="39136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comparisons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87568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📐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080760" y="43525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LIMIT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88352" y="43525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analysis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4048" y="4864608"/>
            <a:ext cx="8375904" cy="2651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87832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Full SQL code available in  sql/washing_machine_analysis.sql  ·  Dataset in  data/Washingmachine0.csv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731520"/>
            <a:ext cx="822960" cy="822960"/>
          </a:xfrm>
          <a:prstGeom prst="ellipse">
            <a:avLst/>
          </a:prstGeom>
          <a:solidFill>
            <a:srgbClr val="26C6DA">
              <a:alpha val="88000"/>
            </a:srgbClr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365760"/>
            <a:ext cx="457200" cy="457200"/>
          </a:xfrm>
          <a:prstGeom prst="ellipse">
            <a:avLst/>
          </a:prstGeom>
          <a:solidFill>
            <a:srgbClr val="26C6DA">
              <a:alpha val="82000"/>
            </a:srgbClr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737360"/>
            <a:ext cx="640080" cy="640080"/>
          </a:xfrm>
          <a:prstGeom prst="ellipse">
            <a:avLst/>
          </a:prstGeom>
          <a:solidFill>
            <a:srgbClr val="26C6DA">
              <a:alpha val="85000"/>
            </a:srgbClr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1371600"/>
            <a:ext cx="320040" cy="320040"/>
          </a:xfrm>
          <a:prstGeom prst="ellipse">
            <a:avLst/>
          </a:prstGeom>
          <a:solidFill>
            <a:srgbClr val="26C6DA">
              <a:alpha val="80000"/>
            </a:srgbClr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2743200"/>
            <a:ext cx="548640" cy="548640"/>
          </a:xfrm>
          <a:prstGeom prst="ellipse">
            <a:avLst/>
          </a:prstGeom>
          <a:solidFill>
            <a:srgbClr val="26C6DA">
              <a:alpha val="90000"/>
            </a:srgbClr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3200400"/>
            <a:ext cx="411480" cy="411480"/>
          </a:xfrm>
          <a:prstGeom prst="ellipse">
            <a:avLst/>
          </a:prstGeom>
          <a:solidFill>
            <a:srgbClr val="26C6DA">
              <a:alpha val="84000"/>
            </a:srgbClr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57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🫧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2560320" y="2907792"/>
            <a:ext cx="402336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992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Star this repo on GitHub if you found it useful!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1810512" cy="822960"/>
          </a:xfrm>
          <a:prstGeom prst="rect">
            <a:avLst/>
          </a:prstGeom>
          <a:solidFill>
            <a:srgbClr val="0D2B50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95020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Analyzed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24912" y="3520440"/>
            <a:ext cx="1810512" cy="822960"/>
          </a:xfrm>
          <a:prstGeom prst="rect">
            <a:avLst/>
          </a:prstGeom>
          <a:solidFill>
            <a:srgbClr val="0D2B50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356616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24912" y="395020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Covered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18304" y="3520440"/>
            <a:ext cx="1810512" cy="822960"/>
          </a:xfrm>
          <a:prstGeom prst="rect">
            <a:avLst/>
          </a:prstGeom>
          <a:solidFill>
            <a:srgbClr val="0D2B50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56616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18304" y="395020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11696" y="3520440"/>
            <a:ext cx="1810512" cy="822960"/>
          </a:xfrm>
          <a:prstGeom prst="rect">
            <a:avLst/>
          </a:prstGeom>
          <a:solidFill>
            <a:srgbClr val="0D2B50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356616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₹6.7K – 32K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11696" y="395020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956048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SQL Analysis  ·  Indian Washing Machine Market  ·  MIT License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Washing Machine Market Analysis — SQL Project</dc:title>
  <dc:subject>PptxGenJS Presentation</dc:subject>
  <dc:creator>PptxGenJS</dc:creator>
  <cp:lastModifiedBy>PptxGenJS</cp:lastModifiedBy>
  <cp:revision>1</cp:revision>
  <dcterms:created xsi:type="dcterms:W3CDTF">2026-05-16T12:32:28Z</dcterms:created>
  <dcterms:modified xsi:type="dcterms:W3CDTF">2026-05-16T12:32:28Z</dcterms:modified>
</cp:coreProperties>
</file>